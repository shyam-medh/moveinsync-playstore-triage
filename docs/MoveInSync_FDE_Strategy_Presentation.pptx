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9E0A19-D6F0-B206-0AD7-68815BE112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DFE4B4-5C55-185E-E936-C8DE7F86B7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617B6B-228D-A170-006C-4F1770885A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4EA87F-5E0B-D0CE-8175-1E5603B999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A4EF1E-0F0B-7271-787F-C275868E75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EF3D72-9A80-7B8E-BFC7-DF8798EB4F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87C6E7-28CD-6910-3072-79B78C155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1F2292-91B2-E24A-D7CC-16063370A3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8C0606-9643-DF4C-C33F-418B8E4F24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64E46F-862B-4B65-F212-FBD1D074F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8B1B2D-FC34-CB75-F86C-89D43D8F9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9F5482-0706-B356-9EBC-5352361424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572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27757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56263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17053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2665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5017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92915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28380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32139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66418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40668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31164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45180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375914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78384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021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46452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7337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1267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75863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17671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20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99410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27027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07141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140073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62493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72621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80444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4985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18472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05212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58144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89753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66730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85157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75882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4903894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95812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77371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380217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93970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93895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994257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596454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99214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252785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87582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2980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49051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87414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435678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4464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7364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380424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0851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960131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81066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7291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56272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04051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721271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335532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29948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97192" name="Rectangle 2"/>
          <p:cNvSpPr/>
          <p:nvPr/>
        </p:nvSpPr>
        <p:spPr bwMode="auto">
          <a:xfrm>
            <a:off x="1097280" y="118872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346345" name="TextBox 3"/>
          <p:cNvSpPr txBox="1"/>
          <p:nvPr/>
        </p:nvSpPr>
        <p:spPr bwMode="auto">
          <a:xfrm>
            <a:off x="1371600" y="10972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rPr/>
              <a:t>MOVEINSYNC TECHNOLOGIES • FORWARD DEPLOYED ENGINEER (FDE) CASE STUDY</a:t>
            </a:r>
            <a:endParaRPr/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/>
              <a:t>Play Store Rating Recovery Strategy</a:t>
            </a:r>
            <a:br>
              <a:rPr/>
            </a:br>
            <a:r>
              <a:rPr/>
              <a:t>&amp; Autonomous Triage Pipeline</a:t>
            </a:r>
            <a:endParaRPr/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rPr/>
              <a:t>Empirical Failure Mode Diagnostics, In-Memory NLP/RAG Architecture, and 45-Day Technical Roadmap</a:t>
            </a:r>
            <a:endParaRPr/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Candidate: Shyam Baranwal  |  Registration No: 12320538  |  Target: 3.8 → 4.2+ within 45 Days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800622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3278419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975826424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The Problem Statement &amp; Forward Deployed Engineering Approach</a:t>
            </a:r>
            <a:endParaRPr/>
          </a:p>
        </p:txBody>
      </p:sp>
      <p:sp>
        <p:nvSpPr>
          <p:cNvPr id="1881088907" name="Rounded Rectangle 4"/>
          <p:cNvSpPr/>
          <p:nvPr/>
        </p:nvSpPr>
        <p:spPr bwMode="auto">
          <a:xfrm>
            <a:off x="731520" y="1463040"/>
            <a:ext cx="5120640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6469934" name="TextBox 5"/>
          <p:cNvSpPr txBox="1"/>
          <p:nvPr/>
        </p:nvSpPr>
        <p:spPr bwMode="auto"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THE BUSINESS CONTEXT &amp; CHALLENGE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• Core Directive: </a:t>
            </a:r>
            <a:r>
              <a:rPr b="0">
                <a:solidFill>
                  <a:srgbClr val="1E293B"/>
                </a:solidFill>
              </a:rPr>
              <a:t>MoveInSync leadership asked: 'How are our Play Store ratings? Work out why they are where they are and tell us exactly what you would do to raise them... This is not a one-time ask.'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• Commuter Reality: </a:t>
            </a:r>
            <a:r>
              <a:rPr b="0">
                <a:solidFill>
                  <a:srgbClr val="1E293B"/>
                </a:solidFill>
              </a:rPr>
              <a:t>MoveInSync manages critical office commutes and night-shift transport. If an app fails in the 15-minute pickup window, users panic and leave 1-star reviews.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• The Rating Dilemma: </a:t>
            </a:r>
            <a:r>
              <a:rPr b="0">
                <a:solidFill>
                  <a:srgbClr val="1E293B"/>
                </a:solidFill>
              </a:rPr>
              <a:t>Overall Play Store rating hovers around ~3.8. While most commuters award 4-5 stars, an intense cluster of 1-star complaints severely pulls down store conversion.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• Legacy Approach Trap: </a:t>
            </a:r>
            <a:r>
              <a:rPr b="0">
                <a:solidFill>
                  <a:srgbClr val="1E293B"/>
                </a:solidFill>
              </a:rPr>
              <a:t>Manual review reading is biased, unquantifiable, and unsustainable as a recurring operational process.</a:t>
            </a:r>
            <a:endParaRPr/>
          </a:p>
        </p:txBody>
      </p:sp>
      <p:sp>
        <p:nvSpPr>
          <p:cNvPr id="1801122220" name="Rounded Rectangle 6"/>
          <p:cNvSpPr/>
          <p:nvPr/>
        </p:nvSpPr>
        <p:spPr bwMode="auto">
          <a:xfrm>
            <a:off x="6217920" y="1463040"/>
            <a:ext cx="5212080" cy="4754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018965" name="TextBox 7"/>
          <p:cNvSpPr txBox="1"/>
          <p:nvPr/>
        </p:nvSpPr>
        <p:spPr bwMode="auto"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THE FORWARD DEPLOYED ENGINEER (FDE) PARADIGM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Autonomous Bridge: </a:t>
            </a:r>
            <a:r>
              <a:rPr b="0">
                <a:solidFill>
                  <a:srgbClr val="1E293B"/>
                </a:solidFill>
              </a:rPr>
              <a:t>Build an automated, in-memory data pipeline connecting unstructured Google Play user feedback directly to internal Jira engineering backlogs.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100% In-Memory Processing: </a:t>
            </a:r>
            <a:r>
              <a:rPr b="0">
                <a:solidFill>
                  <a:srgbClr val="1E293B"/>
                </a:solidFill>
              </a:rPr>
              <a:t>API ingestion, sentiment filtering, neural embedding, and clustering execute entirely in RAM via Pandas. Zero intermediate disk writes.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Zero Operational Cost: </a:t>
            </a:r>
            <a:r>
              <a:rPr b="0">
                <a:solidFill>
                  <a:srgbClr val="1E293B"/>
                </a:solidFill>
              </a:rPr>
              <a:t>Local CPU vector embeddings (sentence-transformers) and in-memory ChromaDB maintain a $0 API bill with zero vendor lock-in.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Continuous Infrastructure: </a:t>
            </a:r>
            <a:r>
              <a:rPr b="0">
                <a:solidFill>
                  <a:srgbClr val="1E293B"/>
                </a:solidFill>
              </a:rPr>
              <a:t>Deploys via GitHub Actions CI/CD to run every Sunday at midnight, continuously tracking rating trajectories without human effort.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226256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485697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242914828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Empirical Diagnostic: The 3 Root Causes of 1-Star Ratings</a:t>
            </a:r>
            <a:endParaRPr/>
          </a:p>
        </p:txBody>
      </p:sp>
      <p:sp>
        <p:nvSpPr>
          <p:cNvPr id="689908224" name="Rounded Rectangle 4"/>
          <p:cNvSpPr/>
          <p:nvPr/>
        </p:nvSpPr>
        <p:spPr bwMode="auto">
          <a:xfrm>
            <a:off x="731520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465521" name="Rectangle 5"/>
          <p:cNvSpPr/>
          <p:nvPr/>
        </p:nvSpPr>
        <p:spPr bwMode="auto">
          <a:xfrm>
            <a:off x="731520" y="1463040"/>
            <a:ext cx="3328416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9877741" name="TextBox 6"/>
          <p:cNvSpPr txBox="1"/>
          <p:nvPr/>
        </p:nvSpPr>
        <p:spPr bwMode="auto">
          <a:xfrm>
            <a:off x="868680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/>
              <a:t>1. GPS &amp; LIVE TRACKING (~27%)</a:t>
            </a:r>
            <a:endParaRPr/>
          </a:p>
        </p:txBody>
      </p:sp>
      <p:sp>
        <p:nvSpPr>
          <p:cNvPr id="488002095" name="TextBox 7"/>
          <p:cNvSpPr txBox="1"/>
          <p:nvPr/>
        </p:nvSpPr>
        <p:spPr bwMode="auto"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rPr/>
              <a:t>PRIMARY FAILURE MODE: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Vehicle markers lag behind physical location by multiple minutes, then suddenly 'teleport' across roads.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Root Cause: Mobile client polls backend REST endpoints over HTTP; latency &amp; packet loss freeze map markers.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User Impact: Commuters miss their cab or stand waiting outside in distress.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Voice of Commuter: 'Cab is stuck at one location on the map, then suddenly shows up at my door!'</a:t>
            </a:r>
            <a:endParaRPr/>
          </a:p>
        </p:txBody>
      </p:sp>
      <p:sp>
        <p:nvSpPr>
          <p:cNvPr id="1983077270" name="Rounded Rectangle 8"/>
          <p:cNvSpPr/>
          <p:nvPr/>
        </p:nvSpPr>
        <p:spPr bwMode="auto">
          <a:xfrm>
            <a:off x="4425696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1451137" name="Rectangle 9"/>
          <p:cNvSpPr/>
          <p:nvPr/>
        </p:nvSpPr>
        <p:spPr bwMode="auto">
          <a:xfrm>
            <a:off x="4425696" y="1463040"/>
            <a:ext cx="332841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9285075" name="TextBox 10"/>
          <p:cNvSpPr txBox="1"/>
          <p:nvPr/>
        </p:nvSpPr>
        <p:spPr bwMode="auto">
          <a:xfrm>
            <a:off x="4562856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/>
              <a:t>2. DRIVER &amp; OTP GATEWAYS (~22%)</a:t>
            </a:r>
            <a:endParaRPr/>
          </a:p>
        </p:txBody>
      </p:sp>
      <p:sp>
        <p:nvSpPr>
          <p:cNvPr id="1337901053" name="TextBox 11"/>
          <p:cNvSpPr txBox="1"/>
          <p:nvPr/>
        </p:nvSpPr>
        <p:spPr bwMode="auto"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rPr/>
              <a:t>PRIMARY FAILURE MODE: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Unexpected session logouts occur 15 minutes before shift start; SMS OTPs experience delivery delays.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Root Cause: Single-vendor SMS gateway queue congestion during morning/evening shift peak hours.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Operational Friction: Drivers calling commuters asking for OTPs prior to actual arrival at pickup spot.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Voice of Commuter: 'Logged me out right before pickup, OTP never arrived in time, missed my office cab!'</a:t>
            </a:r>
            <a:endParaRPr/>
          </a:p>
        </p:txBody>
      </p:sp>
      <p:sp>
        <p:nvSpPr>
          <p:cNvPr id="417722518" name="Rounded Rectangle 12"/>
          <p:cNvSpPr/>
          <p:nvPr/>
        </p:nvSpPr>
        <p:spPr bwMode="auto">
          <a:xfrm>
            <a:off x="8119872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291895" name="Rectangle 13"/>
          <p:cNvSpPr/>
          <p:nvPr/>
        </p:nvSpPr>
        <p:spPr bwMode="auto">
          <a:xfrm>
            <a:off x="8119872" y="1463040"/>
            <a:ext cx="332841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799095" name="TextBox 14"/>
          <p:cNvSpPr txBox="1"/>
          <p:nvPr/>
        </p:nvSpPr>
        <p:spPr bwMode="auto">
          <a:xfrm>
            <a:off x="8257032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/>
              <a:t>3. STABILITY &amp; ANR FREEZES (~12%)</a:t>
            </a:r>
            <a:endParaRPr/>
          </a:p>
        </p:txBody>
      </p:sp>
      <p:sp>
        <p:nvSpPr>
          <p:cNvPr id="1467926400" name="TextBox 15"/>
          <p:cNvSpPr txBox="1"/>
          <p:nvPr/>
        </p:nvSpPr>
        <p:spPr bwMode="auto"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rPr/>
              <a:t>PRIMARY FAILURE MODE: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App crashes on launch and freezes into ANR dialogs when opening shift rosters or maps.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Root Cause: Android MapView context memory leaks; heavy fleet JSON roster parsing on the Android Main UI thread.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Concurrency Lockups: Hundreds of employees booking simultaneously at shift cutoff hours.</a:t>
            </a:r>
            <a:endParaRPr/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rPr/>
              <a:t>• Voice of Commuter: 'App just keeps crashing on the splash screen when I try to view my cab schedule.'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000058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975403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1004167422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Live Executive Triage Dashboard (app_health_report.html)</a:t>
            </a:r>
            <a:endParaRPr/>
          </a:p>
        </p:txBody>
      </p:sp>
      <p:pic>
        <p:nvPicPr>
          <p:cNvPr id="1004517490" name="Picture 4" descr="dashboard_overview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463040"/>
            <a:ext cx="6583680" cy="3703320"/>
          </a:xfrm>
          <a:prstGeom prst="rect">
            <a:avLst/>
          </a:prstGeom>
        </p:spPr>
      </p:pic>
      <p:sp>
        <p:nvSpPr>
          <p:cNvPr id="423999896" name="Rounded Rectangle 5"/>
          <p:cNvSpPr/>
          <p:nvPr/>
        </p:nvSpPr>
        <p:spPr bwMode="auto">
          <a:xfrm>
            <a:off x="7589520" y="1463040"/>
            <a:ext cx="3870655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624135" name="TextBox 6"/>
          <p:cNvSpPr txBox="1"/>
          <p:nvPr/>
        </p:nvSpPr>
        <p:spPr bwMode="auto">
          <a:xfrm>
            <a:off x="7818120" y="169164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DASHBOARD ARCHITECTURE</a:t>
            </a:r>
            <a:endParaRPr/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Real-Time KPI Suite: </a:t>
            </a:r>
            <a:r>
              <a:rPr b="0">
                <a:solidFill>
                  <a:srgbClr val="1E293B"/>
                </a:solidFill>
              </a:rPr>
              <a:t>Instantly surfaces Health Score, total review volume, star distribution, and negative review anchors.</a:t>
            </a:r>
            <a:endParaRPr/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Zero-Dependency HTML5: </a:t>
            </a:r>
            <a:r>
              <a:rPr b="0">
                <a:solidFill>
                  <a:srgbClr val="1E293B"/>
                </a:solidFill>
              </a:rPr>
              <a:t>Generated dynamically via reporter.py into a self-contained, responsive dark-mode HTML file.</a:t>
            </a:r>
            <a:endParaRPr/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Keyword Explorer: </a:t>
            </a:r>
            <a:r>
              <a:rPr b="0">
                <a:solidFill>
                  <a:srgbClr val="1E293B"/>
                </a:solidFill>
              </a:rPr>
              <a:t>Live interactive client-side search across all 1,000 ingested reviews without server queries.</a:t>
            </a:r>
            <a:endParaRPr/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Executive Presentation: </a:t>
            </a:r>
            <a:r>
              <a:rPr b="0">
                <a:solidFill>
                  <a:srgbClr val="1E293B"/>
                </a:solidFill>
              </a:rPr>
              <a:t>Empowers leadership to view current sentiment in 15 seconds without running code.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76030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850797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74565459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Longitudinal Trajectory Engine: Solving 'Point-in-Time Amnesia'</a:t>
            </a:r>
            <a:endParaRPr/>
          </a:p>
        </p:txBody>
      </p:sp>
      <p:sp>
        <p:nvSpPr>
          <p:cNvPr id="952035702" name="Rounded Rectangle 4"/>
          <p:cNvSpPr/>
          <p:nvPr/>
        </p:nvSpPr>
        <p:spPr bwMode="auto">
          <a:xfrm>
            <a:off x="731520" y="1463040"/>
            <a:ext cx="24688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64497" name="Rounded Rectangle 5"/>
          <p:cNvSpPr/>
          <p:nvPr/>
        </p:nvSpPr>
        <p:spPr bwMode="auto">
          <a:xfrm>
            <a:off x="731520" y="1463040"/>
            <a:ext cx="2468880" cy="7315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6534438" name="TextBox 6"/>
          <p:cNvSpPr txBox="1"/>
          <p:nvPr/>
        </p:nvSpPr>
        <p:spPr bwMode="auto">
          <a:xfrm>
            <a:off x="914400" y="162763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rPr/>
              <a:t>~3.8★</a:t>
            </a:r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/>
              <a:t>Current Store Rating</a:t>
            </a:r>
            <a:endParaRPr/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/>
              <a:t>Heavily anchored by 1★ complaints</a:t>
            </a:r>
            <a:endParaRPr/>
          </a:p>
        </p:txBody>
      </p:sp>
      <p:sp>
        <p:nvSpPr>
          <p:cNvPr id="2141761484" name="Rounded Rectangle 7"/>
          <p:cNvSpPr/>
          <p:nvPr/>
        </p:nvSpPr>
        <p:spPr bwMode="auto">
          <a:xfrm>
            <a:off x="3474720" y="1463040"/>
            <a:ext cx="24688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33212" name="Rounded Rectangle 8"/>
          <p:cNvSpPr/>
          <p:nvPr/>
        </p:nvSpPr>
        <p:spPr bwMode="auto">
          <a:xfrm>
            <a:off x="3474720" y="1463040"/>
            <a:ext cx="2468880" cy="7315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0426846" name="TextBox 9"/>
          <p:cNvSpPr txBox="1"/>
          <p:nvPr/>
        </p:nvSpPr>
        <p:spPr bwMode="auto">
          <a:xfrm>
            <a:off x="3657600" y="162763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rPr/>
              <a:t>4.0+★</a:t>
            </a:r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/>
              <a:t>Recovery Potential</a:t>
            </a:r>
            <a:endParaRPr/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/>
              <a:t>Weekly cohorts rebound naturally</a:t>
            </a:r>
            <a:endParaRPr/>
          </a:p>
        </p:txBody>
      </p:sp>
      <p:sp>
        <p:nvSpPr>
          <p:cNvPr id="1608422051" name="Rounded Rectangle 10"/>
          <p:cNvSpPr/>
          <p:nvPr/>
        </p:nvSpPr>
        <p:spPr bwMode="auto">
          <a:xfrm>
            <a:off x="6217920" y="1463040"/>
            <a:ext cx="24688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996001" name="Rounded Rectangle 11"/>
          <p:cNvSpPr/>
          <p:nvPr/>
        </p:nvSpPr>
        <p:spPr bwMode="auto">
          <a:xfrm>
            <a:off x="6217920" y="1463040"/>
            <a:ext cx="2468880" cy="7315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8456303" name="TextBox 12"/>
          <p:cNvSpPr txBox="1"/>
          <p:nvPr/>
        </p:nvSpPr>
        <p:spPr bwMode="auto">
          <a:xfrm>
            <a:off x="6400800" y="162763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rPr/>
              <a:t>4.2+★</a:t>
            </a:r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/>
              <a:t>Target Store Rating</a:t>
            </a:r>
            <a:endParaRPr/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/>
              <a:t>Attainable within 45 days</a:t>
            </a:r>
            <a:endParaRPr/>
          </a:p>
        </p:txBody>
      </p:sp>
      <p:sp>
        <p:nvSpPr>
          <p:cNvPr id="683726863" name="Rounded Rectangle 13"/>
          <p:cNvSpPr/>
          <p:nvPr/>
        </p:nvSpPr>
        <p:spPr bwMode="auto">
          <a:xfrm>
            <a:off x="8961120" y="1463040"/>
            <a:ext cx="2499055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5557042" name="Rounded Rectangle 14"/>
          <p:cNvSpPr/>
          <p:nvPr/>
        </p:nvSpPr>
        <p:spPr bwMode="auto">
          <a:xfrm>
            <a:off x="8961120" y="1463040"/>
            <a:ext cx="2499055" cy="73152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6144469" name="TextBox 15"/>
          <p:cNvSpPr txBox="1"/>
          <p:nvPr/>
        </p:nvSpPr>
        <p:spPr bwMode="auto">
          <a:xfrm>
            <a:off x="9144000" y="1627632"/>
            <a:ext cx="213329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"/>
              </a:defRPr>
            </a:pPr>
            <a:r>
              <a:rPr/>
              <a:t>~70%</a:t>
            </a:r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/>
              <a:t>Addressable Defect Share</a:t>
            </a:r>
            <a:endParaRPr/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/>
              <a:t>Tackled via P0 &amp; P1 fixes</a:t>
            </a:r>
            <a:endParaRPr/>
          </a:p>
        </p:txBody>
      </p:sp>
      <p:sp>
        <p:nvSpPr>
          <p:cNvPr id="1977518825" name="Rounded Rectangle 16"/>
          <p:cNvSpPr/>
          <p:nvPr/>
        </p:nvSpPr>
        <p:spPr bwMode="auto">
          <a:xfrm>
            <a:off x="731520" y="2926080"/>
            <a:ext cx="10728654" cy="329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206809" name="TextBox 17"/>
          <p:cNvSpPr txBox="1"/>
          <p:nvPr/>
        </p:nvSpPr>
        <p:spPr bwMode="auto"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HOW THE LONGITUDINAL COHORT ENGINE WORKS</a:t>
            </a:r>
            <a:endParaRPr/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Mathematical Delta Formulation: </a:t>
            </a:r>
            <a:r>
              <a:rPr b="0">
                <a:solidFill>
                  <a:srgbClr val="1E293B"/>
                </a:solidFill>
              </a:rPr>
              <a:t>Computes Week-over-Week (WoW) rating deltas: Δ WoW = Rating(W_k) - Rating(W_k-1). Reads timestamp metadata directly from Play Store review records.</a:t>
            </a:r>
            <a:endParaRPr/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High Volatility Around Regressions: </a:t>
            </a:r>
            <a:r>
              <a:rPr b="0">
                <a:solidFill>
                  <a:srgbClr val="1E293B"/>
                </a:solidFill>
              </a:rPr>
              <a:t>When an authentication session bug or GPS tracking regression occurs, weekly cohort ratings drop precipitously (deltas between +0.20 and -0.34) within 48 hours.</a:t>
            </a:r>
            <a:endParaRPr/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Fast Sentiment Rebound: </a:t>
            </a:r>
            <a:r>
              <a:rPr b="0">
                <a:solidFill>
                  <a:srgbClr val="1E293B"/>
                </a:solidFill>
              </a:rPr>
              <a:t>When releases maintain stability, weekly cohort ratings naturally climb back to 4.0+. This proves customer goodwill is elastic: fixing the 3 core engineering blockers will yield immediate rating recovery.</a:t>
            </a:r>
            <a:endParaRPr/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rPr/>
              <a:t>• Idempotent Run Snapshots: </a:t>
            </a:r>
            <a:r>
              <a:rPr b="0">
                <a:solidFill>
                  <a:srgbClr val="1E293B"/>
                </a:solidFill>
              </a:rPr>
              <a:t>Every execution appends an immutable record to output/rating_trend_history.json, creating a continuous historical record across mobile app versions (e.g. measuring post-v14.3.0 impact).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726389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63706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1800060867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Data Quality Funnel &amp; Greedy Cosine Semantic Clustering</a:t>
            </a:r>
            <a:endParaRPr/>
          </a:p>
        </p:txBody>
      </p:sp>
      <p:pic>
        <p:nvPicPr>
          <p:cNvPr id="1465497263" name="Picture 4" descr="dashboard_cluster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463040"/>
            <a:ext cx="5852160" cy="3286125"/>
          </a:xfrm>
          <a:prstGeom prst="rect">
            <a:avLst/>
          </a:prstGeom>
        </p:spPr>
      </p:pic>
      <p:sp>
        <p:nvSpPr>
          <p:cNvPr id="460737569" name="Rounded Rectangle 5"/>
          <p:cNvSpPr/>
          <p:nvPr/>
        </p:nvSpPr>
        <p:spPr bwMode="auto">
          <a:xfrm>
            <a:off x="6858000" y="1463040"/>
            <a:ext cx="4602175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1901343" name="TextBox 6"/>
          <p:cNvSpPr txBox="1"/>
          <p:nvPr/>
        </p:nvSpPr>
        <p:spPr bwMode="auto">
          <a:xfrm>
            <a:off x="7132320" y="1691640"/>
            <a:ext cx="4069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THE 5-TIER DATA QUALITY FUNNEL</a:t>
            </a:r>
            <a:endParaRPr/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Tier 1: Knowledge Base Crawl: </a:t>
            </a:r>
            <a:r>
              <a:rPr b="0">
                <a:solidFill>
                  <a:srgbClr val="1E293B"/>
                </a:solidFill>
              </a:rPr>
              <a:t>Extracts MoveInSync official feature specs from public documentation for semantic grounding.</a:t>
            </a:r>
            <a:endParaRPr/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Tier 2: Heuristic Pre-Filter: </a:t>
            </a:r>
            <a:r>
              <a:rPr b="0">
                <a:solidFill>
                  <a:srgbClr val="1E293B"/>
                </a:solidFill>
              </a:rPr>
              <a:t>Discards non-actionable reviews under 5 words and sentiment mismatches (e.g., 1-star 'great app').</a:t>
            </a:r>
            <a:endParaRPr/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Tier 3: ChromaDB Cosine Cutoff: </a:t>
            </a:r>
            <a:r>
              <a:rPr b="0">
                <a:solidFill>
                  <a:srgbClr val="1E293B"/>
                </a:solidFill>
              </a:rPr>
              <a:t>Embeds complaints; discards off-topic reviews with cosine distance &gt;0.65 to official features.</a:t>
            </a:r>
            <a:endParaRPr/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Tier 4: Gemini 2.5 Flash Audit: </a:t>
            </a:r>
            <a:r>
              <a:rPr b="0">
                <a:solidFill>
                  <a:srgbClr val="1E293B"/>
                </a:solidFill>
              </a:rPr>
              <a:t>Borderline complaints undergo high-throughput single-token verification with fail-open quota guards.</a:t>
            </a:r>
            <a:endParaRPr/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Tier 5: Greedy Cosine Clustering: </a:t>
            </a:r>
            <a:r>
              <a:rPr b="0">
                <a:solidFill>
                  <a:srgbClr val="1E293B"/>
                </a:solidFill>
              </a:rPr>
              <a:t>Merges duplicate reviews (similarity &gt;0.58) into 1 consolidated ticket with user counts and quotes.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153708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307531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144154572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Prioritized Engineering Action Plan: P0 Immediate Sprints (Days 1–14)</a:t>
            </a:r>
            <a:endParaRPr/>
          </a:p>
        </p:txBody>
      </p:sp>
      <p:sp>
        <p:nvSpPr>
          <p:cNvPr id="1156104830" name="Rounded Rectangle 4"/>
          <p:cNvSpPr/>
          <p:nvPr/>
        </p:nvSpPr>
        <p:spPr bwMode="auto">
          <a:xfrm>
            <a:off x="731520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456043" name="Rounded Rectangle 5"/>
          <p:cNvSpPr/>
          <p:nvPr/>
        </p:nvSpPr>
        <p:spPr bwMode="auto">
          <a:xfrm>
            <a:off x="731520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0147923" name="TextBox 6"/>
          <p:cNvSpPr txBox="1"/>
          <p:nvPr/>
        </p:nvSpPr>
        <p:spPr bwMode="auto">
          <a:xfrm>
            <a:off x="868680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1: GPS STREAMING OVERHAUL</a:t>
            </a:r>
            <a:endParaRPr/>
          </a:p>
        </p:txBody>
      </p:sp>
      <p:sp>
        <p:nvSpPr>
          <p:cNvPr id="754448666" name="TextBox 7"/>
          <p:cNvSpPr txBox="1"/>
          <p:nvPr/>
        </p:nvSpPr>
        <p:spPr bwMode="auto"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rPr/>
              <a:t>HIGHEST RATING IMPACT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WebSocket Migration: </a:t>
            </a:r>
            <a:r>
              <a:rPr b="0">
                <a:solidFill>
                  <a:srgbClr val="1E293B"/>
                </a:solidFill>
              </a:rPr>
              <a:t>Replace HTTP polling with bidirectional WebSocket / gRPC telemetry during the 20-min pre-pickup window.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Kalman Coordinate Smoothing: </a:t>
            </a:r>
            <a:r>
              <a:rPr b="0">
                <a:solidFill>
                  <a:srgbClr val="1E293B"/>
                </a:solidFill>
              </a:rPr>
              <a:t>Implement dead reckoning and client-side coordinate interpolation on Android Maps SDK to prevent marker jumps.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Stale Connection Banner: </a:t>
            </a:r>
            <a:r>
              <a:rPr b="0">
                <a:solidFill>
                  <a:srgbClr val="1E293B"/>
                </a:solidFill>
              </a:rPr>
              <a:t>Surface 'Updating driver location...' with 1-tap manual sync if telemetry is silent for &gt;15s.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Location freshness p95 &lt; 3.5s; Inaccurate pickup reports &lt; 2.0 / 1,000 trips.</a:t>
            </a:r>
            <a:endParaRPr/>
          </a:p>
        </p:txBody>
      </p:sp>
      <p:sp>
        <p:nvSpPr>
          <p:cNvPr id="423284913" name="Rounded Rectangle 8"/>
          <p:cNvSpPr/>
          <p:nvPr/>
        </p:nvSpPr>
        <p:spPr bwMode="auto">
          <a:xfrm>
            <a:off x="4425696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382809" name="Rounded Rectangle 9"/>
          <p:cNvSpPr/>
          <p:nvPr/>
        </p:nvSpPr>
        <p:spPr bwMode="auto">
          <a:xfrm>
            <a:off x="4425696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5821020" name="TextBox 10"/>
          <p:cNvSpPr txBox="1"/>
          <p:nvPr/>
        </p:nvSpPr>
        <p:spPr bwMode="auto">
          <a:xfrm>
            <a:off x="4562856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2: AUTH &amp; SMS OTP FAILOVER</a:t>
            </a:r>
            <a:endParaRPr/>
          </a:p>
        </p:txBody>
      </p:sp>
      <p:sp>
        <p:nvSpPr>
          <p:cNvPr id="1345618288" name="TextBox 11"/>
          <p:cNvSpPr txBox="1"/>
          <p:nvPr/>
        </p:nvSpPr>
        <p:spPr bwMode="auto"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rPr/>
              <a:t>CRITICAL COMMUTE BLOCKER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Proactive Token Refresh: </a:t>
            </a:r>
            <a:r>
              <a:rPr b="0">
                <a:solidFill>
                  <a:srgbClr val="1E293B"/>
                </a:solidFill>
              </a:rPr>
              <a:t>Automatically refresh JWT/OAuth tokens 2 hours prior to scheduled shift times. Never expire tokens within 60 min of pickup.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Multi-Vendor SMS Failover: </a:t>
            </a:r>
            <a:r>
              <a:rPr b="0">
                <a:solidFill>
                  <a:srgbClr val="1E293B"/>
                </a:solidFill>
              </a:rPr>
              <a:t>Automated failover: If primary SMS aggregator does not ACK delivery within 12s, auto-trigger secondary provider (Twilio).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Biometric &amp; WhatsApp: </a:t>
            </a:r>
            <a:r>
              <a:rPr b="0">
                <a:solidFill>
                  <a:srgbClr val="1E293B"/>
                </a:solidFill>
              </a:rPr>
              <a:t>Introduce biometric login on returning devices and WhatsApp OTP delivery to bypass mobile SMS congestion.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OTP delivery p95 &lt; 8.0s; OTP success rate &gt; 99.2%; Zero forced session logouts.</a:t>
            </a:r>
            <a:endParaRPr/>
          </a:p>
        </p:txBody>
      </p:sp>
      <p:sp>
        <p:nvSpPr>
          <p:cNvPr id="1778819694" name="Rounded Rectangle 12"/>
          <p:cNvSpPr/>
          <p:nvPr/>
        </p:nvSpPr>
        <p:spPr bwMode="auto">
          <a:xfrm>
            <a:off x="8119872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4438690" name="Rounded Rectangle 13"/>
          <p:cNvSpPr/>
          <p:nvPr/>
        </p:nvSpPr>
        <p:spPr bwMode="auto">
          <a:xfrm>
            <a:off x="8119872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1069217" name="TextBox 14"/>
          <p:cNvSpPr txBox="1"/>
          <p:nvPr/>
        </p:nvSpPr>
        <p:spPr bwMode="auto">
          <a:xfrm>
            <a:off x="8257032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3: CRASH &amp; MEMORY PATCHING</a:t>
            </a:r>
            <a:endParaRPr/>
          </a:p>
        </p:txBody>
      </p:sp>
      <p:sp>
        <p:nvSpPr>
          <p:cNvPr id="831845940" name="TextBox 15"/>
          <p:cNvSpPr txBox="1"/>
          <p:nvPr/>
        </p:nvSpPr>
        <p:spPr bwMode="auto"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rPr/>
              <a:t>VITALS &amp; PLAY STORE COMPLIANCE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MapView Lifecycle Detachment: </a:t>
            </a:r>
            <a:r>
              <a:rPr b="0">
                <a:solidFill>
                  <a:srgbClr val="1E293B"/>
                </a:solidFill>
              </a:rPr>
              <a:t>Enforce strict mapView.onDestroy() context decoupling in Android Fragment lifecycles to halt OOM crashes.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Background Coroutines: </a:t>
            </a:r>
            <a:r>
              <a:rPr b="0">
                <a:solidFill>
                  <a:srgbClr val="1E293B"/>
                </a:solidFill>
              </a:rPr>
              <a:t>Move roster JSON deserialization off the Android Main UI Thread onto Kotlin Coroutines (Dispatchers.IO).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Android Vitals Top 3: </a:t>
            </a:r>
            <a:r>
              <a:rPr b="0">
                <a:solidFill>
                  <a:srgbClr val="1E293B"/>
                </a:solidFill>
              </a:rPr>
              <a:t>Directly target top 3 crash signatures in Google Play Console for immediate hotfix deployment in v14.3.1.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Crash-free sessions &gt; 99.5% (exceeding Play Store bad behavior limit of 1.09%).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669607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8736276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944251589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Near-Term Product &amp; Operational Enhancements: P1 Sprints (Days 15–30)</a:t>
            </a:r>
            <a:endParaRPr/>
          </a:p>
        </p:txBody>
      </p:sp>
      <p:sp>
        <p:nvSpPr>
          <p:cNvPr id="221922227" name="Rounded Rectangle 4"/>
          <p:cNvSpPr/>
          <p:nvPr/>
        </p:nvSpPr>
        <p:spPr bwMode="auto">
          <a:xfrm>
            <a:off x="731520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4603532" name="Rounded Rectangle 5"/>
          <p:cNvSpPr/>
          <p:nvPr/>
        </p:nvSpPr>
        <p:spPr bwMode="auto">
          <a:xfrm>
            <a:off x="731520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027956" name="TextBox 6"/>
          <p:cNvSpPr txBox="1"/>
          <p:nvPr/>
        </p:nvSpPr>
        <p:spPr bwMode="auto">
          <a:xfrm>
            <a:off x="868680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4: BOOKING RESILIENCY</a:t>
            </a:r>
            <a:endParaRPr/>
          </a:p>
        </p:txBody>
      </p:sp>
      <p:sp>
        <p:nvSpPr>
          <p:cNvPr id="1010146233" name="TextBox 7"/>
          <p:cNvSpPr txBox="1"/>
          <p:nvPr/>
        </p:nvSpPr>
        <p:spPr bwMode="auto"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rPr/>
              <a:t>PEAK SHIFT CUTOFF RESILIENCE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Optimistic UI Booking: </a:t>
            </a:r>
            <a:r>
              <a:rPr b="0">
                <a:solidFill>
                  <a:srgbClr val="1E293B"/>
                </a:solidFill>
              </a:rPr>
              <a:t>Immediately show 'Confirming with Fleet...' on button press, queuing the booking request asynchronously.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Jittered Exponential Backoff: </a:t>
            </a:r>
            <a:r>
              <a:rPr b="0">
                <a:solidFill>
                  <a:srgbClr val="1E293B"/>
                </a:solidFill>
              </a:rPr>
              <a:t>Client-side retry logic on HTTP 429/503 to prevent thundering-herd spikes on booking cutoff moments.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Zero Lockups: </a:t>
            </a:r>
            <a:r>
              <a:rPr b="0">
                <a:solidFill>
                  <a:srgbClr val="1E293B"/>
                </a:solidFill>
              </a:rPr>
              <a:t>Eliminate UI freezing while awaiting server confirmations.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Self-booking completion rate &gt; 99.0%; Zero unhandled timeout exceptions.</a:t>
            </a:r>
            <a:endParaRPr/>
          </a:p>
        </p:txBody>
      </p:sp>
      <p:sp>
        <p:nvSpPr>
          <p:cNvPr id="619616579" name="Rounded Rectangle 8"/>
          <p:cNvSpPr/>
          <p:nvPr/>
        </p:nvSpPr>
        <p:spPr bwMode="auto">
          <a:xfrm>
            <a:off x="4425696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1775722" name="Rounded Rectangle 9"/>
          <p:cNvSpPr/>
          <p:nvPr/>
        </p:nvSpPr>
        <p:spPr bwMode="auto">
          <a:xfrm>
            <a:off x="4425696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124875" name="TextBox 10"/>
          <p:cNvSpPr txBox="1"/>
          <p:nvPr/>
        </p:nvSpPr>
        <p:spPr bwMode="auto">
          <a:xfrm>
            <a:off x="4562856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5: PROACTIVE DELAY ENGINE</a:t>
            </a:r>
            <a:endParaRPr/>
          </a:p>
        </p:txBody>
      </p:sp>
      <p:sp>
        <p:nvSpPr>
          <p:cNvPr id="612273196" name="TextBox 11"/>
          <p:cNvSpPr txBox="1"/>
          <p:nvPr/>
        </p:nvSpPr>
        <p:spPr bwMode="auto"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rPr/>
              <a:t>OPERATIONAL TRANSPARENCY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Automated Push Alerts: </a:t>
            </a:r>
            <a:r>
              <a:rPr b="0">
                <a:solidFill>
                  <a:srgbClr val="1E293B"/>
                </a:solidFill>
              </a:rPr>
              <a:t>If routing detects vehicle is &gt;7 min delayed due to traffic, trigger push notification with updated ETA before passenger panics.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Driver Geofence Lock: </a:t>
            </a:r>
            <a:r>
              <a:rPr b="0">
                <a:solidFill>
                  <a:srgbClr val="1E293B"/>
                </a:solidFill>
              </a:rPr>
              <a:t>Restrict drivers from requesting passenger OTPs over the phone until GPS is within 200m of the geofenced pickup point.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Trust Reinforcement: </a:t>
            </a:r>
            <a:r>
              <a:rPr b="0">
                <a:solidFill>
                  <a:srgbClr val="1E293B"/>
                </a:solidFill>
              </a:rPr>
              <a:t>Transforms user perception from 'cab disappeared' to 'traffic monitored'.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Driver ETA accuracy ±3m &gt; 92%; 'Cab Whereabouts' complaints down &gt;40%.</a:t>
            </a:r>
            <a:endParaRPr/>
          </a:p>
        </p:txBody>
      </p:sp>
      <p:sp>
        <p:nvSpPr>
          <p:cNvPr id="1305906706" name="Rounded Rectangle 12"/>
          <p:cNvSpPr/>
          <p:nvPr/>
        </p:nvSpPr>
        <p:spPr bwMode="auto">
          <a:xfrm>
            <a:off x="8119872" y="1463040"/>
            <a:ext cx="3328416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8833497" name="Rounded Rectangle 13"/>
          <p:cNvSpPr/>
          <p:nvPr/>
        </p:nvSpPr>
        <p:spPr bwMode="auto">
          <a:xfrm>
            <a:off x="8119872" y="1463040"/>
            <a:ext cx="3328416" cy="59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9602679" name="TextBox 14"/>
          <p:cNvSpPr txBox="1"/>
          <p:nvPr/>
        </p:nvSpPr>
        <p:spPr bwMode="auto">
          <a:xfrm>
            <a:off x="8257032" y="157276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/>
              <a:t>WS 6: SMART RATING PROMPT</a:t>
            </a:r>
            <a:endParaRPr/>
          </a:p>
        </p:txBody>
      </p:sp>
      <p:sp>
        <p:nvSpPr>
          <p:cNvPr id="10367818" name="TextBox 15"/>
          <p:cNvSpPr txBox="1"/>
          <p:nvPr/>
        </p:nvSpPr>
        <p:spPr bwMode="auto"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rPr/>
              <a:t>STORE SENTIMENT RECOVERY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Frustration Interceptor: </a:t>
            </a:r>
            <a:r>
              <a:rPr b="0">
                <a:solidFill>
                  <a:srgbClr val="1E293B"/>
                </a:solidFill>
              </a:rPr>
              <a:t>If trip has ETA drift &gt;10 min, surface 1-tap 'Need help?' module routing to Ops rather than Google Play.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Google In-App Review API: </a:t>
            </a:r>
            <a:r>
              <a:rPr b="0">
                <a:solidFill>
                  <a:srgbClr val="1E293B"/>
                </a:solidFill>
              </a:rPr>
              <a:t>Trigger native Play Store prompt ONLY after 3 consecutive on-time rides with 5★ driver feedback.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Never Harass Unhappy Riders: </a:t>
            </a:r>
            <a:r>
              <a:rPr b="0">
                <a:solidFill>
                  <a:srgbClr val="1E293B"/>
                </a:solidFill>
              </a:rPr>
              <a:t>Strictly suppress store rating prompts for anyone who recently experienced a cancelled or late ride.</a:t>
            </a:r>
            <a:endParaRPr/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rPr/>
              <a:t>• Success Metric: </a:t>
            </a:r>
            <a:r>
              <a:rPr b="0">
                <a:solidFill>
                  <a:srgbClr val="1E293B"/>
                </a:solidFill>
              </a:rPr>
              <a:t>5★ review volume increased by +35%; Public 1★ reviews reduced by &gt;50%.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592924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200679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111723011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45-Day Sprint Execution Roadmap &amp; Direct Jira Ingestion</a:t>
            </a:r>
            <a:endParaRPr/>
          </a:p>
        </p:txBody>
      </p:sp>
      <p:graphicFrame>
        <p:nvGraphicFramePr>
          <p:cNvPr id="585936280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63040"/>
          <a:ext cx="10728654" cy="2926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1280160"/>
                <a:gridCol w="3474720"/>
                <a:gridCol w="3017519"/>
                <a:gridCol w="1310335"/>
              </a:tblGrid>
              <a:tr h="585216">
                <a:tc>
                  <a:txBody>
                    <a:bodyPr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/>
                        <a:t>Sprint Phase</a:t>
                      </a:r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/>
                        <a:t>Timeline</a:t>
                      </a:r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/>
                        <a:t>Core Engineering Focus</a:t>
                      </a:r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/>
                        <a:t>Key Deliverables</a:t>
                      </a:r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/>
                        <a:t>Target Rating</a:t>
                      </a:r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Sprint 1 (P0)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Days 1–14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GPS WebSocket streaming, Kalman smoothing, Proactive JWT token refresh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Mobile v14.3.0 Release, WebSocket rollout, Zero forced logouts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/>
                        <a:t>3.90+★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Sprint 2 (P0)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Days 15–28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Dual-provider SMS failover, MapView OOM leak hotfix, Top ANR patches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Mobile v14.3.1 Release, Crash-free sessions &gt;99.5%, OTP latency &lt;8s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/>
                        <a:t>4.05+★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Sprint 3 (P1)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Days 29–42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Proactive delay push alerts, Booking retry queues, Driver geofencing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Backend Routing Service update, Notification automation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/>
                        <a:t>4.15+★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Sprint 4 (P1)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Days 43–50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In-app support interceptor, Google In-App Review API prompt rollout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/>
                        <a:t>Mobile v14.4.0 Release, Positive rating conversion boost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/>
                        <a:t>4.25+★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17963148" name="Rounded Rectangle 5"/>
          <p:cNvSpPr/>
          <p:nvPr/>
        </p:nvSpPr>
        <p:spPr bwMode="auto">
          <a:xfrm>
            <a:off x="731520" y="4663440"/>
            <a:ext cx="10728654" cy="15544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4909445" name="TextBox 6"/>
          <p:cNvSpPr txBox="1"/>
          <p:nvPr/>
        </p:nvSpPr>
        <p:spPr bwMode="auto">
          <a:xfrm>
            <a:off x="1005840" y="48006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rPr/>
              <a:t>DIRECT JIRA INTEGRATION: READY FOR DAY-1 SPRINT INGESTION</a:t>
            </a:r>
            <a:endParaRP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/>
              <a:t>• Pre-Populated Schema: </a:t>
            </a:r>
            <a:r>
              <a:rPr b="0"/>
              <a:t>The pipeline automatically serializes deduplicated clusters into output/mock_jira_tickets.json following Atlassian Jira REST v2 schema.</a:t>
            </a:r>
            <a:endParaRP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/>
              <a:t>• Engineering Readiness: </a:t>
            </a:r>
            <a:r>
              <a:rPr b="0"/>
              <a:t>Each ticket includes priority tags (P0/P1), affected user volume metrics, verbatim customer reproduction steps, and official feature RAG proximity scores.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890207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8794060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461250860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Technical Toolchain Rationale: Reliability &amp; $0 Operational Cost</a:t>
            </a:r>
            <a:endParaRPr/>
          </a:p>
        </p:txBody>
      </p:sp>
      <p:sp>
        <p:nvSpPr>
          <p:cNvPr id="2122809627" name="Rounded Rectangle 4"/>
          <p:cNvSpPr/>
          <p:nvPr/>
        </p:nvSpPr>
        <p:spPr bwMode="auto">
          <a:xfrm>
            <a:off x="731520" y="146304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0291839" name="Rounded Rectangle 5"/>
          <p:cNvSpPr/>
          <p:nvPr/>
        </p:nvSpPr>
        <p:spPr bwMode="auto">
          <a:xfrm>
            <a:off x="731520" y="146304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528488" name="TextBox 6"/>
          <p:cNvSpPr txBox="1"/>
          <p:nvPr/>
        </p:nvSpPr>
        <p:spPr bwMode="auto">
          <a:xfrm>
            <a:off x="868680" y="153619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google-play-scraper (v1.2.4)</a:t>
            </a:r>
            <a:endParaRPr/>
          </a:p>
        </p:txBody>
      </p:sp>
      <p:sp>
        <p:nvSpPr>
          <p:cNvPr id="362139508" name="TextBox 7"/>
          <p:cNvSpPr txBox="1"/>
          <p:nvPr/>
        </p:nvSpPr>
        <p:spPr bwMode="auto">
          <a:xfrm>
            <a:off x="914400" y="196596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Direct API extraction of 1,000 live reviews for com.moveinsync.ets without Selenium/Playwright browser overhead or CAPTCHA blockers.</a:t>
            </a:r>
            <a:endParaRPr/>
          </a:p>
        </p:txBody>
      </p:sp>
      <p:sp>
        <p:nvSpPr>
          <p:cNvPr id="278686671" name="Rounded Rectangle 8"/>
          <p:cNvSpPr/>
          <p:nvPr/>
        </p:nvSpPr>
        <p:spPr bwMode="auto">
          <a:xfrm>
            <a:off x="4425696" y="146304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015942" name="Rounded Rectangle 9"/>
          <p:cNvSpPr/>
          <p:nvPr/>
        </p:nvSpPr>
        <p:spPr bwMode="auto">
          <a:xfrm>
            <a:off x="4425696" y="146304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6808964" name="TextBox 10"/>
          <p:cNvSpPr txBox="1"/>
          <p:nvPr/>
        </p:nvSpPr>
        <p:spPr bwMode="auto">
          <a:xfrm>
            <a:off x="4562856" y="153619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pandas (v2.0+)</a:t>
            </a:r>
            <a:endParaRPr/>
          </a:p>
        </p:txBody>
      </p:sp>
      <p:sp>
        <p:nvSpPr>
          <p:cNvPr id="1023111267" name="TextBox 11"/>
          <p:cNvSpPr txBox="1"/>
          <p:nvPr/>
        </p:nvSpPr>
        <p:spPr bwMode="auto">
          <a:xfrm>
            <a:off x="4608576" y="196596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High-performance in-memory text manipulation, multi-label boolean indexing, and datetime cohort weekly grouping in RAM.</a:t>
            </a:r>
            <a:endParaRPr/>
          </a:p>
        </p:txBody>
      </p:sp>
      <p:sp>
        <p:nvSpPr>
          <p:cNvPr id="491514849" name="Rounded Rectangle 12"/>
          <p:cNvSpPr/>
          <p:nvPr/>
        </p:nvSpPr>
        <p:spPr bwMode="auto">
          <a:xfrm>
            <a:off x="8119872" y="146304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0607082" name="Rounded Rectangle 13"/>
          <p:cNvSpPr/>
          <p:nvPr/>
        </p:nvSpPr>
        <p:spPr bwMode="auto">
          <a:xfrm>
            <a:off x="8119872" y="146304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987999" name="TextBox 14"/>
          <p:cNvSpPr txBox="1"/>
          <p:nvPr/>
        </p:nvSpPr>
        <p:spPr bwMode="auto">
          <a:xfrm>
            <a:off x="8257032" y="153619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sentence-transformers</a:t>
            </a:r>
            <a:endParaRPr/>
          </a:p>
        </p:txBody>
      </p:sp>
      <p:sp>
        <p:nvSpPr>
          <p:cNvPr id="1099954350" name="TextBox 15"/>
          <p:cNvSpPr txBox="1"/>
          <p:nvPr/>
        </p:nvSpPr>
        <p:spPr bwMode="auto">
          <a:xfrm>
            <a:off x="8302752" y="196596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all-MiniLM-L6-v2 local CPU vector embeddings. Embeds 1,000 reviews in ~3.5 seconds with 0 latency, 0 token fees, and $0 API cost.</a:t>
            </a:r>
            <a:endParaRPr/>
          </a:p>
        </p:txBody>
      </p:sp>
      <p:sp>
        <p:nvSpPr>
          <p:cNvPr id="3685479" name="Rounded Rectangle 16"/>
          <p:cNvSpPr/>
          <p:nvPr/>
        </p:nvSpPr>
        <p:spPr bwMode="auto">
          <a:xfrm>
            <a:off x="731520" y="393192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7580321" name="Rounded Rectangle 17"/>
          <p:cNvSpPr/>
          <p:nvPr/>
        </p:nvSpPr>
        <p:spPr bwMode="auto">
          <a:xfrm>
            <a:off x="731520" y="393192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975761" name="TextBox 18"/>
          <p:cNvSpPr txBox="1"/>
          <p:nvPr/>
        </p:nvSpPr>
        <p:spPr bwMode="auto">
          <a:xfrm>
            <a:off x="868680" y="400507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chromadb (In-Memory)</a:t>
            </a:r>
            <a:endParaRPr/>
          </a:p>
        </p:txBody>
      </p:sp>
      <p:sp>
        <p:nvSpPr>
          <p:cNvPr id="504012007" name="TextBox 19"/>
          <p:cNvSpPr txBox="1"/>
          <p:nvPr/>
        </p:nvSpPr>
        <p:spPr bwMode="auto">
          <a:xfrm>
            <a:off x="914400" y="443484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Vector database client running inside process memory. HNSW approximate nearest-neighbor search without external server hosts.</a:t>
            </a:r>
            <a:endParaRPr/>
          </a:p>
        </p:txBody>
      </p:sp>
      <p:sp>
        <p:nvSpPr>
          <p:cNvPr id="387792289" name="Rounded Rectangle 20"/>
          <p:cNvSpPr/>
          <p:nvPr/>
        </p:nvSpPr>
        <p:spPr bwMode="auto">
          <a:xfrm>
            <a:off x="4425696" y="393192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2368710" name="Rounded Rectangle 21"/>
          <p:cNvSpPr/>
          <p:nvPr/>
        </p:nvSpPr>
        <p:spPr bwMode="auto">
          <a:xfrm>
            <a:off x="4425696" y="393192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694002" name="TextBox 22"/>
          <p:cNvSpPr txBox="1"/>
          <p:nvPr/>
        </p:nvSpPr>
        <p:spPr bwMode="auto">
          <a:xfrm>
            <a:off x="4562856" y="400507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google-genai (Gemini 2.5 Flash)</a:t>
            </a:r>
            <a:endParaRPr/>
          </a:p>
        </p:txBody>
      </p:sp>
      <p:sp>
        <p:nvSpPr>
          <p:cNvPr id="1866041331" name="TextBox 23"/>
          <p:cNvSpPr txBox="1"/>
          <p:nvPr/>
        </p:nvSpPr>
        <p:spPr bwMode="auto">
          <a:xfrm>
            <a:off x="4608576" y="443484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High-throughput binary verification audit for ambiguous reviews with fail-open rate limiting and generous free-tier quotas.</a:t>
            </a:r>
            <a:endParaRPr/>
          </a:p>
        </p:txBody>
      </p:sp>
      <p:sp>
        <p:nvSpPr>
          <p:cNvPr id="283864138" name="Rounded Rectangle 24"/>
          <p:cNvSpPr/>
          <p:nvPr/>
        </p:nvSpPr>
        <p:spPr bwMode="auto">
          <a:xfrm>
            <a:off x="8119872" y="3931920"/>
            <a:ext cx="3328416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412402" name="Rounded Rectangle 25"/>
          <p:cNvSpPr/>
          <p:nvPr/>
        </p:nvSpPr>
        <p:spPr bwMode="auto">
          <a:xfrm>
            <a:off x="8119872" y="3931920"/>
            <a:ext cx="3328416" cy="3657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729558" name="TextBox 26"/>
          <p:cNvSpPr txBox="1"/>
          <p:nvPr/>
        </p:nvSpPr>
        <p:spPr bwMode="auto">
          <a:xfrm>
            <a:off x="8257032" y="4005072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/>
              <a:t>GitHub Actions CI/CD</a:t>
            </a:r>
            <a:endParaRPr/>
          </a:p>
        </p:txBody>
      </p:sp>
      <p:sp>
        <p:nvSpPr>
          <p:cNvPr id="677009899" name="TextBox 27"/>
          <p:cNvSpPr txBox="1"/>
          <p:nvPr/>
        </p:nvSpPr>
        <p:spPr bwMode="auto">
          <a:xfrm>
            <a:off x="8302752" y="4434840"/>
            <a:ext cx="29626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rPr/>
              <a:t>Autonomous weekly cron on Ubuntu runners with state retention, git commit-back, and zero dedicated server maintenance.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683647" name="Rectangle 1"/>
          <p:cNvSpPr/>
          <p:nvPr/>
        </p:nvSpPr>
        <p:spPr bwMode="auto">
          <a:xfrm>
            <a:off x="731520" y="365760"/>
            <a:ext cx="1072865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916137" name="TextBox 2"/>
          <p:cNvSpPr txBox="1"/>
          <p:nvPr/>
        </p:nvSpPr>
        <p:spPr bwMode="auto"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rPr/>
              <a:t>MOVEINSYNC • FORWARD DEPLOYED ENGINEER (FDE) CASE STUDY</a:t>
            </a:r>
            <a:endParaRPr/>
          </a:p>
        </p:txBody>
      </p:sp>
      <p:sp>
        <p:nvSpPr>
          <p:cNvPr id="1636309106" name="TextBox 3"/>
          <p:cNvSpPr txBox="1"/>
          <p:nvPr/>
        </p:nvSpPr>
        <p:spPr bwMode="auto">
          <a:xfrm>
            <a:off x="731520" y="713232"/>
            <a:ext cx="1072865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/>
              <a:t>Autonomous CI/CD Cloud Pipeline: Addressing 'Not a One-Time Ask'</a:t>
            </a:r>
            <a:endParaRPr/>
          </a:p>
        </p:txBody>
      </p:sp>
      <p:sp>
        <p:nvSpPr>
          <p:cNvPr id="144708700" name="Rounded Rectangle 4"/>
          <p:cNvSpPr/>
          <p:nvPr/>
        </p:nvSpPr>
        <p:spPr bwMode="auto">
          <a:xfrm>
            <a:off x="731520" y="1463040"/>
            <a:ext cx="10728654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4036513" name="TextBox 5"/>
          <p:cNvSpPr txBox="1"/>
          <p:nvPr/>
        </p:nvSpPr>
        <p:spPr bwMode="auto">
          <a:xfrm>
            <a:off x="1005840" y="169164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/>
              <a:t>INFRASTRUCTURE-AS-CODE WORKFLOW (.github/workflows/play_store_triage.yml)</a:t>
            </a:r>
            <a:endParaRPr/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Autonomous Sunday Midnight Cron: </a:t>
            </a:r>
            <a:r>
              <a:rPr b="0">
                <a:solidFill>
                  <a:srgbClr val="1E293B"/>
                </a:solidFill>
              </a:rPr>
              <a:t>Configured with schedule: - cron: '0 0 * * 0'. Triggers automatically every Sunday at midnight UTC without requiring human intervention.</a:t>
            </a:r>
            <a:endParaRPr/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Fast Ephemeral Ubuntu Runner: </a:t>
            </a:r>
            <a:r>
              <a:rPr b="0">
                <a:solidFill>
                  <a:srgbClr val="1E293B"/>
                </a:solidFill>
              </a:rPr>
              <a:t>Provisions clean Ubuntu environment, caches Python dependencies via pip, and executes the complete triage pipeline in ~40 seconds.</a:t>
            </a:r>
            <a:endParaRPr/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Automated State Commit-Back Loop: </a:t>
            </a:r>
            <a:r>
              <a:rPr b="0">
                <a:solidFill>
                  <a:srgbClr val="1E293B"/>
                </a:solidFill>
              </a:rPr>
              <a:t>Uses stefanzweifel/git-auto-commit-action to commit updated rating_trend_history.json and app_health_report.html back to origin/main with [skip ci] guards.</a:t>
            </a:r>
            <a:endParaRPr/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Zero Dedicated Server Overhead: </a:t>
            </a:r>
            <a:r>
              <a:rPr b="0">
                <a:solidFill>
                  <a:srgbClr val="1E293B"/>
                </a:solidFill>
              </a:rPr>
              <a:t>Operates entirely within GitHub Actions free public/private quota. Zero AWS/EC2 billing, zero Docker swarm administration.</a:t>
            </a:r>
            <a:endParaRPr/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rPr/>
              <a:t>✓ Engineering Notification Dispatch: </a:t>
            </a:r>
            <a:r>
              <a:rPr b="0">
                <a:solidFill>
                  <a:srgbClr val="1E293B"/>
                </a:solidFill>
              </a:rPr>
              <a:t>Prepares Jira tickets for upload and integrates with Slack webhooks to notify mobile engineering channels of weekly rating deltas.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42346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974142" name="TextBox 2"/>
          <p:cNvSpPr txBox="1"/>
          <p:nvPr/>
        </p:nvSpPr>
        <p:spPr bwMode="auto">
          <a:xfrm>
            <a:off x="914400" y="914400"/>
            <a:ext cx="10363254" cy="3128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rPr/>
              <a:t>MOVEINSYNC FDE CASE STUDY • FINAL SUMMARY</a:t>
            </a:r>
            <a:endParaRPr/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rPr/>
              <a:t>Complete Submission Deliverables Checklist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Executive Recommendation Memo (PDF): </a:t>
            </a:r>
            <a:r>
              <a:rPr b="0">
                <a:solidFill>
                  <a:srgbClr val="E2E8F0"/>
                </a:solidFill>
              </a:rPr>
              <a:t>docs/Recommendation_Memo.pdf — Prioritized P0/P1 fixes, telemetry metrics, and 45-day sprint recovery roadmap.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Methodology &amp; Tools Specification (PDF): </a:t>
            </a:r>
            <a:r>
              <a:rPr b="0">
                <a:solidFill>
                  <a:srgbClr val="E2E8F0"/>
                </a:solidFill>
              </a:rPr>
              <a:t>docs/Methodology_and_Tools.pdf — Technical breakdown of the 5-tier NLP/RAG funnel and $0 toolchain rationale.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Interactive Executive Health Dashboard: </a:t>
            </a:r>
            <a:r>
              <a:rPr b="0">
                <a:solidFill>
                  <a:srgbClr val="E2E8F0"/>
                </a:solidFill>
              </a:rPr>
              <a:t>output/app_health_report.html — Responsive dark-mode dashboard with KPI cards, trend charts, and keyword search.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Jira REST API Ingestion Payload: </a:t>
            </a:r>
            <a:r>
              <a:rPr b="0">
                <a:solidFill>
                  <a:srgbClr val="E2E8F0"/>
                </a:solidFill>
              </a:rPr>
              <a:t>output/mock_jira_tickets.json — Ready for immediate Day-1 import into engineering sprint boards.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Autonomous Cloud CI/CD Automation: </a:t>
            </a:r>
            <a:r>
              <a:rPr b="0">
                <a:solidFill>
                  <a:srgbClr val="E2E8F0"/>
                </a:solidFill>
              </a:rPr>
              <a:t>.github/workflows/play_store_triage.yml — Weekly Sunday midnight cron ensuring continuous monitoring.</a:t>
            </a:r>
            <a:endParaRPr/>
          </a:p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rPr/>
              <a:t>✓ Production Codebase &amp; Submission Archive: </a:t>
            </a:r>
            <a:r>
              <a:rPr b="0">
                <a:solidFill>
                  <a:srgbClr val="E2E8F0"/>
                </a:solidFill>
              </a:rPr>
              <a:t>Clean GitHub repo (github.com/shyam-medh/moveinsync-playstore-triage) and submission zip package.</a:t>
            </a:r>
            <a:endParaRP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rPr/>
              <a:t>Thank you! Prepared by Shyam Baranwal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2026-10-12T16:44:37Z</dcterms:modified>
  <cp:category/>
</cp:coreProperties>
</file>